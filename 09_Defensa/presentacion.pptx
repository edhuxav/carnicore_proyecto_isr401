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41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300" r:id="rId51"/>
    <p:sldId id="277" r:id="rId28"/>
    <p:sldId id="273" r:id="rId24"/>
    <p:sldId id="299" r:id="rId50"/>
    <p:sldId id="263" r:id="rId14"/>
    <p:sldId id="266" r:id="rId17"/>
    <p:sldId id="296" r:id="rId47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4" Type="http://schemas.openxmlformats.org/officeDocument/2006/relationships/slide" Target="slides/slide8.xml"/><Relationship Id="rId17" Type="http://schemas.openxmlformats.org/officeDocument/2006/relationships/slide" Target="slides/slide11.xml"/>  
  
  
  
  <Relationship Id="rId24" Type="http://schemas.openxmlformats.org/officeDocument/2006/relationships/slide" Target="slides/slide18.xml"/>
  
  
  
  <Relationship Id="rId28" Type="http://schemas.openxmlformats.org/officeDocument/2006/relationships/slide" Target="slides/slide22.xml"/>
  
  
  
  
  
  
  
  
  
  
  
  
  
  
  
  
  
  
  <Relationship Id="rId47" Type="http://schemas.openxmlformats.org/officeDocument/2006/relationships/slide" Target="slides/slide41.xml"/>
  
  <Relationship Id="rId49" Type="http://schemas.openxmlformats.org/officeDocument/2006/relationships/slide" Target="slides/slide43.xml"/>
<Relationship Id="rId50" Type="http://schemas.openxmlformats.org/officeDocument/2006/relationships/slide" Target="slides/slide44.xml"/>  <Relationship Id="rId51" Type="http://schemas.openxmlformats.org/officeDocument/2006/relationships/slide" Target="slides/slide45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Relationship Id="rId6" Type="http://schemas.openxmlformats.org/officeDocument/2006/relationships/image" Target="../media/diag_class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diag_usecase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diag_Context_Diagram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diag_State_Diagram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unc_card1.png"/><Relationship Id="rId4" Type="http://schemas.openxmlformats.org/officeDocument/2006/relationships/image" Target="../media/func_card2.png"/></Relationships>
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62175"/>
            <a:ext cx="2590800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95812" y="2628900"/>
            <a:ext cx="30003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350" i="0" u="none">
                <a:solidFill>
                  <a:srgbClr val="FFFFFF"/>
                </a:solidFill>
                <a:latin typeface="Poppins"/>
              </a:rPr>
              <a:t>CarniCore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600450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Sistema de Trazabilidad, Pesaje Inteligente e Inventario para la Distribuidora de Cárnicos Pucayacu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700" y="4514850"/>
            <a:ext cx="3524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Inter"/>
              </a:rPr>
              <a:t> UTEQ - Ingeniería de Software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Ingeniería de Requerimientos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Agosto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050" y="4533900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4533900"/>
            <a:ext cx="1809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775" y="4533900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125" y="476250"/>
            <a:ext cx="5250656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Problema Operativo Actual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7625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2682180"/>
            <a:ext cx="5400675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91B1B"/>
                </a:solidFill>
                <a:latin typeface="Poppins"/>
              </a:rPr>
              <a:t>Gestión Manual y Pérdida de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250" y="3158430"/>
            <a:ext cx="5143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La distribuidora opera con registros manuales en papel, generando opacidad en el origen de lotes, imprecisiones en el pesaje y despiece, y falta de alertas sobre vencimiento de cárnicos.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3987105"/>
            <a:ext cx="51435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Esta informalidad impide garantizar la cadena de frío, genera mermas no contabilizadas y dificulta el cumplimiento de auditorías zoosanitarias ante Agrocalidad.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82105"/>
            <a:ext cx="5334000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82105"/>
            <a:ext cx="5334000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2377380"/>
            <a:ext cx="4660582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oppins"/>
              </a:rPr>
              <a:t>Propósito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2834580"/>
            <a:ext cx="47434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Digitalizar y automatizar integralmente el flujo operativo cárnico (recepción, pesaje, despiece, almacenamiento y venta), garantizando la trazabilidad desde el proveedor/granja hasta el consumidor final mediante códigos QR.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6575" y="2377380"/>
            <a:ext cx="4660582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oppins"/>
              </a:rPr>
              <a:t>Objetivos Estratégicos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429767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42976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0375" y="2834580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Trazabilidad 100%: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Registrar guías de origen, aretes y proveedores certificados.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0375" y="3406080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Control de Mermas: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Calcular automáticamente desviaciones en despiece (margen 1-8%).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0375" y="3977580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Monitoreo Inteligente: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Controlar vida útil y cadena de frío con modelos de 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0375" y="4549080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Soporte offline: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Permitir operaciones continuas en planta sin interrupción de 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28536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4251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39966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1775" y="45681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Propósito y Objetivos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6405"/>
            <a:ext cx="5334000" cy="3105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6405"/>
            <a:ext cx="5334000" cy="3105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1575" y="2491680"/>
            <a:ext cx="4660582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166534"/>
                </a:solidFill>
                <a:latin typeface="Poppins"/>
              </a:rPr>
              <a:t>Dentro del Alcance (SÍ incluye)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86575" y="2491680"/>
            <a:ext cx="4660582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oppins"/>
              </a:rPr>
              <a:t>Fuera del Alcance (NO incluye)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44067"/>
            <a:ext cx="209550" cy="209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95375" y="29488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Registro de ingreso de ganado/lotes con guías de origen.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32917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Pesaje inteligente automatizado e impresión de tiquetes.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5375" y="36346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Clasificación de cortes y control de mermas de despiece.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9775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Monitoreo de cámaras frigoríficas y alertas de vida útil.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5375" y="43204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Módulos de IA: predicción de demanda y fallas térmicas.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5375" y="46633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Consulta pública limitada de trazabilidad vía código QR.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544067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0375" y="29488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 reemplaza el sistema de facturación electrónica del SRI.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32917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 emite guías de movilización directamente a Agrocalidad.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36346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 incluye plataforma de comercio electrónico B2C.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375" y="39775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 realiza control autónomo directo de actuadores IoT.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4320480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No gestiona pagos ni nómina de empleados.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29679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33108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36537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39966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6775" y="43395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6775" y="46824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29679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33108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1775" y="36537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1775" y="39966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1775" y="433953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Alcance del Sistema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Priorización MoSCoW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91642"/>
          <a:ext cx="11030654" cy="39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00000"/>
                <a:gridCol w="5690642"/>
                <a:gridCol w="1725959"/>
                <a:gridCol w="1714053"/>
              </a:tblGrid>
              <a:tr h="55000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Categoría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Requisitos Incluidos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Clasificación Kano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Priorización WSJF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B91C1C"/>
                          </a:solidFill>
                          <a:latin typeface="Inter"/>
                        </a:rPr>
                        <a:t>Must Have (18)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RF-01 a RF-11, RF-15, RF-21 (Recepción, pesaje, despiece, trazabilidad básica, contingencia offline).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Básico / Atractivo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Alta Densidad de Valor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B45309"/>
                          </a:solidFill>
                          <a:latin typeface="Inter"/>
                        </a:rPr>
                        <a:t>Should Have (6)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RF-12, RF-13, RF-18, RF-23, RF-25, RF-27 (Conteo inventarios, QR trazabilidad, filtro por proveedor).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Unidimensional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Valor Medio-Alto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D4ED8"/>
                          </a:solidFill>
                          <a:latin typeface="Inter"/>
                        </a:rPr>
                        <a:t>Could Have (3)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RF-17, RF-20, RF-26 (Georreferenciación de granjas, registro de fallas de energía, vista QR pública).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Atractivo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Valor Moderado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5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047857"/>
                          </a:solidFill>
                          <a:latin typeface="Inter"/>
                        </a:rPr>
                        <a:t>Won't Have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Facturación electrónica directa SRI y E-commerce (Excluidos explícitamente en v2.0).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475569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43980"/>
            <a:ext cx="56007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oppins"/>
              </a:rPr>
              <a:t>Arquitectura y Dominio v2.0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20205"/>
            <a:ext cx="533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El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Diagrama de Clases Refinado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agrupa las entidades del dominio (Lote, Animal, Producto, Despiece, Cámara, Trazabilidad) garantizando alta cohesión.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48880"/>
            <a:ext cx="533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El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Diagrama de Despliegue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define la infraestructura multicapa containerizada con Docker Compose (Frontend Web, Backend API, PostgreSQL y Motor IA).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Diagrama de Clases (Dominio v2.0)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DiagramImg" descr="di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278" y="1963980"/>
            <a:ext cx="4832444" cy="3569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43980"/>
            <a:ext cx="56007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0F172A"/>
                </a:solidFill>
                <a:latin typeface="Poppins"/>
              </a:rPr>
              <a:t>Modelado de Intencionalidad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120205"/>
            <a:ext cx="533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El modelado organizacional con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i* (SD/SR)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identifica las relaciones de dependencia estratégica entre la Propietaria, el Administrador y el Sistema CarniCore.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948880"/>
            <a:ext cx="533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 nivel UML, se especificaron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12 Casos de Uso principales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detallados en formato extendido, cubriendo desde el ingreso de ganado hasta la emisión del QR.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Diagrama General de Casos de Uso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DiagramImg" descr="di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6500" y="2046449"/>
            <a:ext cx="5094000" cy="340506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Diagrama de Contexto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DiagramImg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9381" y="1060000"/>
            <a:ext cx="7613238" cy="5098000"/>
          </a:xfrm>
          <a:prstGeom prst="rect">
            <a:avLst/>
          </a:prstGeom>
        </p:spPr>
      </p:pic>
      <p:sp>
        <p:nvSpPr>
          <p:cNvPr id="21" name="Caption"/>
          <p:cNvSpPr txBox="1"/>
          <p:nvPr/>
        </p:nvSpPr>
        <p:spPr>
          <a:xfrm>
            <a:off x="571500" y="6218000"/>
            <a:ext cx="11049000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b="0" sz="1150" i="1" u="none">
                <a:solidFill>
                  <a:srgbClr val="64748B"/>
                </a:solidFill>
                <a:latin typeface="Inter"/>
              </a:rPr>
              <a:t>Límites del sistema CarniCore y sus interacciones con actores externos.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Diagrama de Estados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DiagramImg" descr="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086" y="1060000"/>
            <a:ext cx="9647827" cy="5098000"/>
          </a:xfrm>
          <a:prstGeom prst="rect">
            <a:avLst/>
          </a:prstGeom>
        </p:spPr>
      </p:pic>
      <p:sp>
        <p:nvSpPr>
          <p:cNvPr id="21" name="Caption"/>
          <p:cNvSpPr txBox="1"/>
          <p:nvPr/>
        </p:nvSpPr>
        <p:spPr>
          <a:xfrm>
            <a:off x="571500" y="6218000"/>
            <a:ext cx="11049000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b="0" sz="1150" i="1" u="none">
                <a:solidFill>
                  <a:srgbClr val="64748B"/>
                </a:solidFill>
                <a:latin typeface="Inter"/>
              </a:rPr>
              <a:t>Ciclo de vida del producto: desde el ingreso hasta la venta o baja.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162175"/>
            <a:ext cx="2590800" cy="276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95812" y="2628900"/>
            <a:ext cx="3000375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350" i="0" u="none">
                <a:solidFill>
                  <a:srgbClr val="FFFFFF"/>
                </a:solidFill>
                <a:latin typeface="Poppins"/>
              </a:rPr>
              <a:t>Gracias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875" y="3600450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Preguntas y Respuestas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700" y="4514850"/>
            <a:ext cx="35242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94A3B8"/>
                </a:solidFill>
                <a:latin typeface="Inter"/>
              </a:rPr>
              <a:t> UTEQ - Ingeniería de Software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Ingeniería de Requerimientos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</a:t>
            </a:r>
            <a:r>
              <a:rPr b="0" sz="1125" i="0" u="none">
                <a:solidFill>
                  <a:srgbClr val="94A3B8"/>
                </a:solidFill>
                <a:latin typeface="Inter"/>
              </a:rPr>
              <a:t> Agosto 2026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7050" y="4533900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4533900"/>
            <a:ext cx="18097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5775" y="4533900"/>
            <a:ext cx="1238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0" name="Card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50000"/>
            <a:ext cx="5334000" cy="5030000"/>
          </a:xfrm>
          <a:prstGeom prst="rect">
            <a:avLst/>
          </a:prstGeom>
        </p:spPr>
      </p:pic>
      <p:pic>
        <p:nvPicPr>
          <p:cNvPr id="101" name="Card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550000"/>
            <a:ext cx="5334000" cy="5030000"/>
          </a:xfrm>
          <a:prstGeom prst="rect">
            <a:avLst/>
          </a:prstGeom>
        </p:spPr>
      </p:pic>
      <p:sp>
        <p:nvSpPr>
          <p:cNvPr id="102" name="Header"/>
          <p:cNvSpPr txBox="1"/>
          <p:nvPr/>
        </p:nvSpPr>
        <p:spPr>
          <a:xfrm>
            <a:off x="1171500" y="1850000"/>
            <a:ext cx="4660582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oppins"/>
              </a:rPr>
              <a:t>Operación y Trazabilidad</a:t>
            </a:r>
          </a:p>
        </p:txBody>
      </p:sp>
      <p:sp>
        <p:nvSpPr>
          <p:cNvPr id="103" name="Bullet"/>
          <p:cNvSpPr txBox="1"/>
          <p:nvPr/>
        </p:nvSpPr>
        <p:spPr>
          <a:xfrm>
            <a:off x="942900" y="22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04" name="Item"/>
          <p:cNvSpPr txBox="1"/>
          <p:nvPr/>
        </p:nvSpPr>
        <p:spPr>
          <a:xfrm>
            <a:off x="1171500" y="22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Registro de proveedores y origen: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captura los datos del proveedor y la guía de origen de cada lote antes del ingreso a planta.</a:t>
            </a:r>
          </a:p>
        </p:txBody>
      </p:sp>
      <p:sp>
        <p:nvSpPr>
          <p:cNvPr id="105" name="Bullet"/>
          <p:cNvSpPr txBox="1"/>
          <p:nvPr/>
        </p:nvSpPr>
        <p:spPr>
          <a:xfrm>
            <a:off x="942900" y="31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06" name="Item"/>
          <p:cNvSpPr txBox="1"/>
          <p:nvPr/>
        </p:nvSpPr>
        <p:spPr>
          <a:xfrm>
            <a:off x="1171500" y="31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Pesaje inteligente: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captura el peso directo desde la báscula digital y calcula el costo automáticamente.</a:t>
            </a:r>
          </a:p>
        </p:txBody>
      </p:sp>
      <p:sp>
        <p:nvSpPr>
          <p:cNvPr id="107" name="Bullet"/>
          <p:cNvSpPr txBox="1"/>
          <p:nvPr/>
        </p:nvSpPr>
        <p:spPr>
          <a:xfrm>
            <a:off x="942900" y="40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08" name="Item"/>
          <p:cNvSpPr txBox="1"/>
          <p:nvPr/>
        </p:nvSpPr>
        <p:spPr>
          <a:xfrm>
            <a:off x="1171500" y="40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Despiece y clasificación: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registra los cortes primarios y secundarios, calculando la merma por lote.</a:t>
            </a:r>
          </a:p>
        </p:txBody>
      </p:sp>
      <p:sp>
        <p:nvSpPr>
          <p:cNvPr id="109" name="Bullet"/>
          <p:cNvSpPr txBox="1"/>
          <p:nvPr/>
        </p:nvSpPr>
        <p:spPr>
          <a:xfrm>
            <a:off x="942900" y="49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10" name="Item"/>
          <p:cNvSpPr txBox="1"/>
          <p:nvPr/>
        </p:nvSpPr>
        <p:spPr>
          <a:xfrm>
            <a:off x="1171500" y="49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Control de cámara frigorífica: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registra el ingreso a cámara y calcula la vida útil restante del producto.</a:t>
            </a:r>
          </a:p>
        </p:txBody>
      </p:sp>
      <p:sp>
        <p:nvSpPr>
          <p:cNvPr id="111" name="Bullet"/>
          <p:cNvSpPr txBox="1"/>
          <p:nvPr/>
        </p:nvSpPr>
        <p:spPr>
          <a:xfrm>
            <a:off x="942900" y="58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12" name="Item"/>
          <p:cNvSpPr txBox="1"/>
          <p:nvPr/>
        </p:nvSpPr>
        <p:spPr>
          <a:xfrm>
            <a:off x="1171500" y="58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Trazabilidad por código QR: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genera un código QR que permite consultar el historial completo de cada producto.</a:t>
            </a:r>
          </a:p>
        </p:txBody>
      </p:sp>
      <p:sp>
        <p:nvSpPr>
          <p:cNvPr id="113" name="Header"/>
          <p:cNvSpPr txBox="1"/>
          <p:nvPr/>
        </p:nvSpPr>
        <p:spPr>
          <a:xfrm>
            <a:off x="6886500" y="1850000"/>
            <a:ext cx="4660582" cy="314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650" i="0" u="none">
                <a:solidFill>
                  <a:srgbClr val="991B1B"/>
                </a:solidFill>
                <a:latin typeface="Poppins"/>
              </a:rPr>
              <a:t>Gestión y Analítica</a:t>
            </a:r>
          </a:p>
        </p:txBody>
      </p:sp>
      <p:sp>
        <p:nvSpPr>
          <p:cNvPr id="114" name="Bullet"/>
          <p:cNvSpPr txBox="1"/>
          <p:nvPr/>
        </p:nvSpPr>
        <p:spPr>
          <a:xfrm>
            <a:off x="6657900" y="22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15" name="Item"/>
          <p:cNvSpPr txBox="1"/>
          <p:nvPr/>
        </p:nvSpPr>
        <p:spPr>
          <a:xfrm>
            <a:off x="6886500" y="22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Control de inventario: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permite realizar conteos físicos y detectar diferencias frente al inventario del sistema.</a:t>
            </a:r>
          </a:p>
        </p:txBody>
      </p:sp>
      <p:sp>
        <p:nvSpPr>
          <p:cNvPr id="116" name="Bullet"/>
          <p:cNvSpPr txBox="1"/>
          <p:nvPr/>
        </p:nvSpPr>
        <p:spPr>
          <a:xfrm>
            <a:off x="6657900" y="31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17" name="Item"/>
          <p:cNvSpPr txBox="1"/>
          <p:nvPr/>
        </p:nvSpPr>
        <p:spPr>
          <a:xfrm>
            <a:off x="6886500" y="31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Registro de ventas y bajas: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registra la salida de productos por venta o baja, descontando el inventario automáticamente.</a:t>
            </a:r>
          </a:p>
        </p:txBody>
      </p:sp>
      <p:sp>
        <p:nvSpPr>
          <p:cNvPr id="118" name="Bullet"/>
          <p:cNvSpPr txBox="1"/>
          <p:nvPr/>
        </p:nvSpPr>
        <p:spPr>
          <a:xfrm>
            <a:off x="6657900" y="40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19" name="Item"/>
          <p:cNvSpPr txBox="1"/>
          <p:nvPr/>
        </p:nvSpPr>
        <p:spPr>
          <a:xfrm>
            <a:off x="6886500" y="40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Reportes gerenciales: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genera reportes de ventas, compras, pérdidas y desempeño filtrables por proveedor.</a:t>
            </a:r>
          </a:p>
        </p:txBody>
      </p:sp>
      <p:sp>
        <p:nvSpPr>
          <p:cNvPr id="120" name="Bullet"/>
          <p:cNvSpPr txBox="1"/>
          <p:nvPr/>
        </p:nvSpPr>
        <p:spPr>
          <a:xfrm>
            <a:off x="6657900" y="49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21" name="Item"/>
          <p:cNvSpPr txBox="1"/>
          <p:nvPr/>
        </p:nvSpPr>
        <p:spPr>
          <a:xfrm>
            <a:off x="6886500" y="49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Predicción de demanda (IA):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estima el volumen de cortes requerido según temporada e historial de ventas.</a:t>
            </a:r>
          </a:p>
        </p:txBody>
      </p:sp>
      <p:sp>
        <p:nvSpPr>
          <p:cNvPr id="122" name="Bullet"/>
          <p:cNvSpPr txBox="1"/>
          <p:nvPr/>
        </p:nvSpPr>
        <p:spPr>
          <a:xfrm>
            <a:off x="6657900" y="5889050"/>
            <a:ext cx="6667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50"/>
              </a:lnSpc>
            </a:pPr>
            <a:r>
              <a:rPr b="0" sz="900" i="0" u="none">
                <a:solidFill>
                  <a:srgbClr val="B91C1C"/>
                </a:solidFill>
                <a:latin typeface="Inter"/>
              </a:rPr>
              <a:t>■</a:t>
            </a:r>
          </a:p>
        </p:txBody>
      </p:sp>
      <p:sp>
        <p:nvSpPr>
          <p:cNvPr id="123" name="Item"/>
          <p:cNvSpPr txBox="1"/>
          <p:nvPr/>
        </p:nvSpPr>
        <p:spPr>
          <a:xfrm>
            <a:off x="6886500" y="5870000"/>
            <a:ext cx="4434000" cy="5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1" sz="1050" i="0" u="none">
                <a:solidFill>
                  <a:srgbClr val="475569"/>
                </a:solidFill>
                <a:latin typeface="Inter"/>
              </a:rPr>
              <a:t>Modo offline y detección de anomalías: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permite operar sin conexión y alerta ante fallas en la cadena de frío.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Funcionalidades del Sistema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5" y="476250"/>
            <a:ext cx="11451431" cy="411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b="1" sz="2700" i="0" u="none">
                <a:solidFill>
                  <a:srgbClr val="1E293B"/>
                </a:solidFill>
                <a:latin typeface="Poppins"/>
              </a:rPr>
              <a:t>Stakeholders: Matriz de Poder e Interés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476250"/>
            <a:ext cx="47625" cy="41136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Stakeholders"/>
          <p:cNvGraphicFramePr>
            <a:graphicFrameLocks noGrp="1"/>
          </p:cNvGraphicFramePr>
          <p:nvPr/>
        </p:nvGraphicFramePr>
        <p:xfrm>
          <a:off x="581025" y="1150000"/>
          <a:ext cx="11029948" cy="5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50000"/>
                <a:gridCol w="1850000"/>
                <a:gridCol w="950000"/>
                <a:gridCol w="950000"/>
                <a:gridCol w="4829948"/>
              </a:tblGrid>
              <a:tr h="500000">
                <a:tc>
                  <a:txBody>
                    <a:bodyPr/>
                    <a:lstStyle/>
                    <a:p>
                      <a:pPr algn="l"/>
                      <a:r>
                        <a:rPr b="1" sz="11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Interesado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Tipo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Poder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Interés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0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Estrategia de gestión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Propietaria (Gisela E. Ibáñez Medina)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Interno / decisor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Gestionar de cerca; validación semanal de requisitos.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Administrador general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Administrativo interno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Gestionar de cerca; aprueba bajas e inventario.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Encargado de bodega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Operativo interno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D97706"/>
                          </a:solidFill>
                          <a:latin typeface="Poppins SemiBold"/>
                        </a:rPr>
                        <a:t>Medio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Mantener informado; usuario intensivo del sistema.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Carnicero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Operativo interno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64748B"/>
                          </a:solidFill>
                          <a:latin typeface="Poppins SemiBold"/>
                        </a:rPr>
                        <a:t>Bajo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Mantener informado; usuario del módulo de despiece.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Cliente / Sucursal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Externo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64748B"/>
                          </a:solidFill>
                          <a:latin typeface="Poppins SemiBold"/>
                        </a:rPr>
                        <a:t>Bajo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D97706"/>
                          </a:solidFill>
                          <a:latin typeface="Poppins SemiBold"/>
                        </a:rPr>
                        <a:t>Medio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Monitorear; consulta de trazabilidad pública.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Agrocalidad (ente de control)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Externo regulador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64748B"/>
                          </a:solidFill>
                          <a:latin typeface="Poppins SemiBold"/>
                        </a:rPr>
                        <a:t>Bajo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Mantener satisfecho; exportación de evidencia de trazabilidad.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Proveedor / Granja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Externo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64748B"/>
                          </a:solidFill>
                          <a:latin typeface="Poppins SemiBold"/>
                        </a:rPr>
                        <a:t>Bajo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64748B"/>
                          </a:solidFill>
                          <a:latin typeface="Poppins SemiBold"/>
                        </a:rPr>
                        <a:t>Bajo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Monitorear; provee guías de origen.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b="1" sz="1000" i="0" u="none">
                          <a:solidFill>
                            <a:srgbClr val="1E293B"/>
                          </a:solidFill>
                          <a:latin typeface="Poppins SemiBold"/>
                        </a:rPr>
                        <a:t>Docente supervisor ISR-401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Interno académico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 i="0" u="none">
                          <a:solidFill>
                            <a:srgbClr val="B91C1C"/>
                          </a:solidFill>
                          <a:latin typeface="Poppins SemiBold"/>
                        </a:rPr>
                        <a:t>Alto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50" i="0" u="none">
                          <a:solidFill>
                            <a:srgbClr val="475569"/>
                          </a:solidFill>
                          <a:latin typeface="Inter"/>
                        </a:rPr>
                        <a:t>Gestionar de cerca; gatekeeper de evaluación.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" name="Caption"/>
          <p:cNvSpPr txBox="1"/>
          <p:nvPr/>
        </p:nvSpPr>
        <p:spPr>
          <a:xfrm>
            <a:off x="571500" y="6650000"/>
            <a:ext cx="11049000" cy="24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b="0" sz="1050" i="1" u="none">
                <a:solidFill>
                  <a:srgbClr val="64748B"/>
                </a:solidFill>
                <a:latin typeface="Inter"/>
              </a:rPr>
              <a:t>Basado en el análisis de interesados del ERS/SRS CarniCore (ISO/IEC/IEEE 29148:2018)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